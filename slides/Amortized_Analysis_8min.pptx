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秒：欢迎各位同学，今天我们用 8 分钟来深入理解平摊分析这一重要的算法分析技术。</a:t>
            </a:r>
          </a:p>
          <a:p/>
          <a:p>
            <a:r>
              <a:t>课程目标与产出：</a:t>
            </a:r>
          </a:p>
          <a:p>
            <a:r>
              <a:t>1. 理解平摊分析与概率分析的本质区别</a:t>
            </a:r>
          </a:p>
          <a:p>
            <a:r>
              <a:t>2. 掌握三种经典方法：聚集分析、记账法、势能法</a:t>
            </a:r>
          </a:p>
          <a:p>
            <a:r>
              <a:t>3. 能够独立分析动态数组和二进制计数器的平摊复杂度</a:t>
            </a:r>
          </a:p>
          <a:p>
            <a:r>
              <a:t>4. 具备设计代价模型和势函数的能力</a:t>
            </a:r>
          </a:p>
          <a:p/>
          <a:p>
            <a:r>
              <a:t>这 8 分钟将改变你对算法复杂度分析的认知，让你能够更精确地评估数据结构操作的真实成本。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这张幻灯片要强调学习动机与可迁移性。</a:t>
            </a:r>
          </a:p>
          <a:p/>
          <a:p>
            <a:r>
              <a:t>要点阐述：</a:t>
            </a:r>
          </a:p>
          <a:p>
            <a:r>
              <a:t>1. 概率分析依赖输入分布假设，而平摊分析完全确定性地分析操作序列</a:t>
            </a:r>
          </a:p>
          <a:p>
            <a:r>
              <a:t>2. 三种方法本质相同，只是存款归属不同——掌握任意一种就能触类旁通</a:t>
            </a:r>
          </a:p>
          <a:p>
            <a:r>
              <a:t>3. 动态数组（如 ArrayList、vector）是最常见的应用场景</a:t>
            </a:r>
          </a:p>
          <a:p>
            <a:r>
              <a:t>4. 势函数设计是高级技巧，一旦掌握就能分析更复杂的数据结构</a:t>
            </a:r>
          </a:p>
          <a:p/>
          <a:p>
            <a:r>
              <a:t>时间控制：约 30 秒，快速建立期望值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这是理解平摊分析的核心前提，要花约 40 秒讲清楚。</a:t>
            </a:r>
          </a:p>
          <a:p/>
          <a:p>
            <a:r>
              <a:t>重点强调：</a:t>
            </a:r>
          </a:p>
          <a:p>
            <a:r>
              <a:t>1. 操作序列是关键词——我们分析的是一系列操作的总代价，而非单次操作</a:t>
            </a:r>
          </a:p>
          <a:p>
            <a:r>
              <a:t>2. 不用概率意味着结论更强——不依赖任何输入分布假设</a:t>
            </a:r>
          </a:p>
          <a:p>
            <a:r>
              <a:t>3. 比喻：概率分析像预测随机顾客的平均消费；平摊分析像计算这一批固定顾客的平均消费</a:t>
            </a:r>
          </a:p>
          <a:p/>
          <a:p>
            <a:r>
              <a:t>常见误区澄清：平摊分析不是期望值，而是确定性的平均值</a:t>
            </a:r>
          </a:p>
          <a:p/>
          <a:p>
            <a:r>
              <a:t>图示说明（左侧）：概率分析需要输入分布，平摊分析只需要操作序列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用约 40 秒解释动机，用柱状图与平均线的比喻。</a:t>
            </a:r>
          </a:p>
          <a:p/>
          <a:p>
            <a:r>
              <a:t>核心比喻：</a:t>
            </a:r>
          </a:p>
          <a:p>
            <a:r>
              <a:t>想象一个柱状图，大多数柱子很矮（便宜操作），偶尔有一根特别高的柱子（扩容操作）。</a:t>
            </a:r>
          </a:p>
          <a:p>
            <a:r>
              <a:t>如果只看最高的柱子来评估每根柱子的高度，就会严重高估。</a:t>
            </a:r>
          </a:p>
          <a:p>
            <a:r>
              <a:t>平摊分析就是画一条平均线，让高柱子的多余部分分摊给矮柱子。</a:t>
            </a:r>
          </a:p>
          <a:p/>
          <a:p>
            <a:r>
              <a:t>实际意义：</a:t>
            </a:r>
          </a:p>
          <a:p>
            <a:r>
              <a:t>- ArrayList.add() 最坏 O(n)，但平摊 O(1)</a:t>
            </a:r>
          </a:p>
          <a:p>
            <a:r>
              <a:t>- HashMap.put() 最坏 O(n)，但平摊 O(1)</a:t>
            </a:r>
          </a:p>
          <a:p>
            <a:r>
              <a:t>- 这解释了为什么我们日常使用这些数据结构感觉很快</a:t>
            </a:r>
          </a:p>
          <a:p/>
          <a:p>
            <a:r>
              <a:t>图示说明：展示操作代价的柱状图和平均线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40 秒概述三种方法，为后续详解做铺垫。</a:t>
            </a:r>
          </a:p>
          <a:p/>
          <a:p>
            <a:r>
              <a:t>三种方法的关系：</a:t>
            </a:r>
          </a:p>
          <a:p>
            <a:r>
              <a:t>1. 聚集分析：最直观，直接算总代价除以操作次数</a:t>
            </a:r>
          </a:p>
          <a:p>
            <a:r>
              <a:t>2. 记账法：给每个操作预收一个平摊价，多收的存起来供贵操作使用</a:t>
            </a:r>
          </a:p>
          <a:p>
            <a:r>
              <a:t>3. 势能法：把存款绑定到数据结构的状态上，用势函数 Φ 描述</a:t>
            </a:r>
          </a:p>
          <a:p/>
          <a:p>
            <a:r>
              <a:t>为什么需要三种方法？</a:t>
            </a:r>
          </a:p>
          <a:p>
            <a:r>
              <a:t>- 聚集分析适合简单场景</a:t>
            </a:r>
          </a:p>
          <a:p>
            <a:r>
              <a:t>- 记账法直观，但需要为每种操作设计合理的平摊价</a:t>
            </a:r>
          </a:p>
          <a:p>
            <a:r>
              <a:t>- 势能法最通用，可以分析复杂的数据结构</a:t>
            </a:r>
          </a:p>
          <a:p/>
          <a:p>
            <a:r>
              <a:t>图示说明：展示三种方法的对比表格或示意图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30 秒建立问题模型，明确计价口径。</a:t>
            </a:r>
          </a:p>
          <a:p/>
          <a:p>
            <a:r>
              <a:t>问题设定详解：</a:t>
            </a:r>
          </a:p>
          <a:p>
            <a:r>
              <a:t>1. 为什么用翻倍策略？</a:t>
            </a:r>
          </a:p>
          <a:p>
            <a:r>
              <a:t>   - 如果每次只扩容 1 个位置，n 次插入需要 O(n²) 的搬移代价</a:t>
            </a:r>
          </a:p>
          <a:p>
            <a:r>
              <a:t>   - 翻倍策略能把总代价降到 O(n)</a:t>
            </a:r>
          </a:p>
          <a:p>
            <a:r>
              <a:t>   </a:t>
            </a:r>
          </a:p>
          <a:p>
            <a:r>
              <a:t>2. 代价定义：</a:t>
            </a:r>
          </a:p>
          <a:p>
            <a:r>
              <a:t>   - 插入一个元素到已有位置：1</a:t>
            </a:r>
          </a:p>
          <a:p>
            <a:r>
              <a:t>   - 扩容时需要把所有旧元素搬到新数组：每个元素 1</a:t>
            </a:r>
          </a:p>
          <a:p>
            <a:r>
              <a:t>   - 所以扩容时总代价 = 1（新元素）+ k（搬移 k 个旧元素）</a:t>
            </a:r>
          </a:p>
          <a:p/>
          <a:p>
            <a:r>
              <a:t>3. 实际应用：</a:t>
            </a:r>
          </a:p>
          <a:p>
            <a:r>
              <a:t>   - Java ArrayList、Python list、C++ vector 都使用类似策略</a:t>
            </a:r>
          </a:p>
          <a:p>
            <a:r>
              <a:t>   - 但扩容因子可能不同（有些用 1.5 倍）</a:t>
            </a:r>
          </a:p>
          <a:p/>
          <a:p>
            <a:r>
              <a:t>接下来我们用三种方法来证明平摊代价是 O(1)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50 秒推导聚集分析，这是最直观的方法。</a:t>
            </a:r>
          </a:p>
          <a:p/>
          <a:p>
            <a:r>
              <a:t>推导过程详解：</a:t>
            </a:r>
          </a:p>
          <a:p>
            <a:r>
              <a:t>1. 首先识别扩容时机：第 1, 2, 4, 8, 16, ... 次插入时发生扩容</a:t>
            </a:r>
          </a:p>
          <a:p/>
          <a:p>
            <a:r>
              <a:t>2. 搬移代价计算：</a:t>
            </a:r>
          </a:p>
          <a:p>
            <a:r>
              <a:t>   - 第 1 次扩容：搬移 1 个元素（从容量 1 扩到 2）</a:t>
            </a:r>
          </a:p>
          <a:p>
            <a:r>
              <a:t>   - 第 2 次扩容：搬移 2 个元素（从容量 2 扩到 4）</a:t>
            </a:r>
          </a:p>
          <a:p>
            <a:r>
              <a:t>   - 第 4 次扩容：搬移 4 个元素（从容量 4 扩到 8）</a:t>
            </a:r>
          </a:p>
          <a:p>
            <a:r>
              <a:t>   - ...</a:t>
            </a:r>
          </a:p>
          <a:p>
            <a:r>
              <a:t>   </a:t>
            </a:r>
          </a:p>
          <a:p>
            <a:r>
              <a:t>3. 等比级数求和：</a:t>
            </a:r>
          </a:p>
          <a:p>
            <a:r>
              <a:t>   - 1 + 2 + 4 + ... + 2^k = 2^(k+1) - 1</a:t>
            </a:r>
          </a:p>
          <a:p>
            <a:r>
              <a:t>   - 当 n 次插入时，最多扩容到 2^⌊log₂n⌋</a:t>
            </a:r>
          </a:p>
          <a:p>
            <a:r>
              <a:t>   - 所以搬移总代价 &lt; 2n</a:t>
            </a:r>
          </a:p>
          <a:p/>
          <a:p>
            <a:r>
              <a:t>4. 结论：</a:t>
            </a:r>
          </a:p>
          <a:p>
            <a:r>
              <a:t>   - 总代价 = 插入代价 + 搬移代价 &lt; n + 2n = 3n</a:t>
            </a:r>
          </a:p>
          <a:p>
            <a:r>
              <a:t>   - 平摊代价 = 3n/n = 3 = O(1)</a:t>
            </a:r>
          </a:p>
          <a:p/>
          <a:p>
            <a:r>
              <a:t>关键洞察：虽然单次扩容可能很贵，但扩容次数是对数级的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40 秒讲解记账法，强调预付款概念。</a:t>
            </a:r>
          </a:p>
          <a:p/>
          <a:p>
            <a:r>
              <a:t>记账法直觉：</a:t>
            </a:r>
          </a:p>
          <a:p>
            <a:r>
              <a:t>把每次插入想象成预付款：</a:t>
            </a:r>
          </a:p>
          <a:p>
            <a:r>
              <a:t>- 实际花费：1 元（把元素放进去）</a:t>
            </a:r>
          </a:p>
          <a:p>
            <a:r>
              <a:t>- 预付款：3 元（多付 2 元存起来）</a:t>
            </a:r>
          </a:p>
          <a:p/>
          <a:p>
            <a:r>
              <a:t>存款用途：</a:t>
            </a:r>
          </a:p>
          <a:p>
            <a:r>
              <a:t>- 每个元素身上存了 2 元</a:t>
            </a:r>
          </a:p>
          <a:p>
            <a:r>
              <a:t>- 第一个 2 元用于第一次被搬移</a:t>
            </a:r>
          </a:p>
          <a:p>
            <a:r>
              <a:t>- 第二个 2 元用于第二次被搬移</a:t>
            </a:r>
          </a:p>
          <a:p>
            <a:r>
              <a:t>- （如果翻倍，每个元素最多被搬移 log n 次，但因为每次搬移都有新存款，所以够用）</a:t>
            </a:r>
          </a:p>
          <a:p/>
          <a:p>
            <a:r>
              <a:t>为什么 credit 永不为负？</a:t>
            </a:r>
          </a:p>
          <a:p>
            <a:r>
              <a:t>- 扩容时需要搬移 k 个元素</a:t>
            </a:r>
          </a:p>
          <a:p>
            <a:r>
              <a:t>- 这 k 个元素都是满了才扩容时已经在数组里的</a:t>
            </a:r>
          </a:p>
          <a:p>
            <a:r>
              <a:t>- 每个元素在插入时都存了款，所以一定够付</a:t>
            </a:r>
          </a:p>
          <a:p/>
          <a:p>
            <a:r>
              <a:t>这个方法的优点：</a:t>
            </a:r>
          </a:p>
          <a:p>
            <a:r>
              <a:t>- 直观地把代价分摊到每个操作</a:t>
            </a:r>
          </a:p>
          <a:p>
            <a:r>
              <a:t>- 不需要求和公式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50 秒讲解势能法，这是最通用的方法。</a:t>
            </a:r>
          </a:p>
          <a:p/>
          <a:p>
            <a:r>
              <a:t>势能法核心思想：</a:t>
            </a:r>
          </a:p>
          <a:p>
            <a:r>
              <a:t>把存款绑定到数据结构的状态上，用势函数 Φ 描述</a:t>
            </a:r>
          </a:p>
          <a:p/>
          <a:p>
            <a:r>
              <a:t>势函数设计 Φ = 2·size - capacity：</a:t>
            </a:r>
          </a:p>
          <a:p>
            <a:r>
              <a:t>- 空数组时 Φ = 0</a:t>
            </a:r>
          </a:p>
          <a:p>
            <a:r>
              <a:t>- 数组刚扩容后（size = capacity/2）：Φ = 2·(cap/2) - cap = 0</a:t>
            </a:r>
          </a:p>
          <a:p>
            <a:r>
              <a:t>- 数组满时（size = capacity）：Φ = 2·cap - cap = cap</a:t>
            </a:r>
          </a:p>
          <a:p/>
          <a:p>
            <a:r>
              <a:t>为什么这个势函数有效？</a:t>
            </a:r>
          </a:p>
          <a:p>
            <a:r>
              <a:t>- 扩容发生时，势能从 capacity 变成 0</a:t>
            </a:r>
          </a:p>
          <a:p>
            <a:r>
              <a:t>- 这个势能差 = capacity，刚好够付搬移代价</a:t>
            </a:r>
          </a:p>
          <a:p>
            <a:r>
              <a:t>- 所以扩容的真实代价被势能下降抵消了</a:t>
            </a:r>
          </a:p>
          <a:p/>
          <a:p>
            <a:r>
              <a:t>普通插入分析：</a:t>
            </a:r>
          </a:p>
          <a:p>
            <a:r>
              <a:t>- 实际代价 cᵢ = 1</a:t>
            </a:r>
          </a:p>
          <a:p>
            <a:r>
              <a:t>- 势能变化 ΔΦ = 2（size 增加 1，capacity 不变）</a:t>
            </a:r>
          </a:p>
          <a:p>
            <a:r>
              <a:t>- 平摊代价 = 1 + 2 = 3</a:t>
            </a:r>
          </a:p>
          <a:p/>
          <a:p>
            <a:r>
              <a:t>扩容插入分析：</a:t>
            </a:r>
          </a:p>
          <a:p>
            <a:r>
              <a:t>- 实际代价 cᵢ = 1 + k（插入 + 搬移）</a:t>
            </a:r>
          </a:p>
          <a:p>
            <a:r>
              <a:t>- 势能变化 ΔΦ = 2 - k（size 增加 1，capacity 翻倍抵消）</a:t>
            </a:r>
          </a:p>
          <a:p>
            <a:r>
              <a:t>- 平摊代价 = (1+k) + (2-k) =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30 秒总结势能法框架，建立通用方法论。</a:t>
            </a:r>
          </a:p>
          <a:p/>
          <a:p>
            <a:r>
              <a:t>势能法框架详解：</a:t>
            </a:r>
          </a:p>
          <a:p/>
          <a:p>
            <a:r>
              <a:t>1. 势函数的物理意义：</a:t>
            </a:r>
          </a:p>
          <a:p>
            <a:r>
              <a:t>   - Φ(D) 代表数据结构 D 的存储势能</a:t>
            </a:r>
          </a:p>
          <a:p>
            <a:r>
              <a:t>   - 类似物理中的弹性势能或重力势能</a:t>
            </a:r>
          </a:p>
          <a:p>
            <a:r>
              <a:t>   - 势能高 → 可以释放来做功（支付昂贵操作）</a:t>
            </a:r>
          </a:p>
          <a:p/>
          <a:p>
            <a:r>
              <a:t>2. 平摊代价公式的推导：</a:t>
            </a:r>
          </a:p>
          <a:p>
            <a:r>
              <a:t>   - 总实际代价 Σcᵢ</a:t>
            </a:r>
          </a:p>
          <a:p>
            <a:r>
              <a:t>   - 总平摊代价 Σĉᵢ = Σ(cᵢ + ΔΦᵢ) = Σcᵢ + Φ(Dₙ) - Φ(D₀)</a:t>
            </a:r>
          </a:p>
          <a:p>
            <a:r>
              <a:t>   - 因为 Φ(Dₙ) ≥ 0 且 Φ(D₀) = 0，所以 Σcᵢ ≤ Σĉᵢ</a:t>
            </a:r>
          </a:p>
          <a:p/>
          <a:p>
            <a:r>
              <a:t>3. 势函数设计技巧：</a:t>
            </a:r>
          </a:p>
          <a:p>
            <a:r>
              <a:t>   - 便宜操作时让势能增加（存款）</a:t>
            </a:r>
          </a:p>
          <a:p>
            <a:r>
              <a:t>   - 贵操作时让势能降低（取款）</a:t>
            </a:r>
          </a:p>
          <a:p>
            <a:r>
              <a:t>   - 保证势能永不为负（不透支）</a:t>
            </a:r>
          </a:p>
          <a:p/>
          <a:p>
            <a:r>
              <a:t>4. 与记账法的对比：</a:t>
            </a:r>
          </a:p>
          <a:p>
            <a:r>
              <a:t>   - 记账法：存款绑定在操作或元素上</a:t>
            </a:r>
          </a:p>
          <a:p>
            <a:r>
              <a:t>   - 势能法：存款绑定在数据结构状态上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30 秒介绍二进制计数器问题，这是另一个经典案例。</a:t>
            </a:r>
          </a:p>
          <a:p/>
          <a:p>
            <a:r>
              <a:t>问题背景：</a:t>
            </a:r>
          </a:p>
          <a:p>
            <a:r>
              <a:t>二进制计数器是理解平摊分析的绝佳案例</a:t>
            </a:r>
          </a:p>
          <a:p>
            <a:r>
              <a:t>- 简单：只有一种操作（加 1）</a:t>
            </a:r>
          </a:p>
          <a:p>
            <a:r>
              <a:t>- 代价变化大：有时翻转 1 位，有时翻转 k 位</a:t>
            </a:r>
          </a:p>
          <a:p/>
          <a:p>
            <a:r>
              <a:t>代价分析直觉：</a:t>
            </a:r>
          </a:p>
          <a:p>
            <a:r>
              <a:t>- 最低位每次都翻转</a:t>
            </a:r>
          </a:p>
          <a:p>
            <a:r>
              <a:t>- 第 2 位每隔 1 次翻转</a:t>
            </a:r>
          </a:p>
          <a:p>
            <a:r>
              <a:t>- 第 3 位每隔 3 次翻转</a:t>
            </a:r>
          </a:p>
          <a:p>
            <a:r>
              <a:t>- 第 i 位每隔 2^(i-1) 次翻转</a:t>
            </a:r>
          </a:p>
          <a:p/>
          <a:p>
            <a:r>
              <a:t>最坏情况：</a:t>
            </a:r>
          </a:p>
          <a:p>
            <a:r>
              <a:t>- 从 0111...1 变到 1000...0 时，所有位都翻转</a:t>
            </a:r>
          </a:p>
          <a:p>
            <a:r>
              <a:t>- 单次最坏代价 = k（位数）</a:t>
            </a:r>
          </a:p>
          <a:p/>
          <a:p>
            <a:r>
              <a:t>但平均来看呢？</a:t>
            </a:r>
          </a:p>
          <a:p>
            <a:r>
              <a:t>- 低位翻转频繁，高位翻转稀少</a:t>
            </a:r>
          </a:p>
          <a:p>
            <a:r>
              <a:t>- 平摊下来应该是 O(1)</a:t>
            </a:r>
          </a:p>
          <a:p/>
          <a:p>
            <a:r>
              <a:t>接下来用三种方法证明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40 秒推导聚集分析。</a:t>
            </a:r>
          </a:p>
          <a:p/>
          <a:p>
            <a:r>
              <a:t>推导过程：</a:t>
            </a:r>
          </a:p>
          <a:p>
            <a:r>
              <a:t>1. 观察每一位的翻转规律</a:t>
            </a:r>
          </a:p>
          <a:p>
            <a:r>
              <a:t>   - 看计数器从 0 数到 n-1 的过程</a:t>
            </a:r>
          </a:p>
          <a:p>
            <a:r>
              <a:t>   - 第 0 位（最低位）：0→1→0→1→...，每次操作都翻转</a:t>
            </a:r>
          </a:p>
          <a:p>
            <a:r>
              <a:t>   - 第 1 位：0→0→1→1→0→0→...，每 2 次操作翻转一次</a:t>
            </a:r>
          </a:p>
          <a:p>
            <a:r>
              <a:t>   - 第 i 位：每 2^i 次操作翻转一次</a:t>
            </a:r>
          </a:p>
          <a:p/>
          <a:p>
            <a:r>
              <a:t>2. 求和</a:t>
            </a:r>
          </a:p>
          <a:p>
            <a:r>
              <a:t>   - 第 i 位翻转次数 = ⌊n/2^i⌋</a:t>
            </a:r>
          </a:p>
          <a:p>
            <a:r>
              <a:t>   - 总翻转次数 = Σ⌊n/2^i⌋（i 从 0 到 k-1）</a:t>
            </a:r>
          </a:p>
          <a:p>
            <a:r>
              <a:t>   - ≤ n·(1 + 1/2 + 1/4 + ...) = n·2 = 2n</a:t>
            </a:r>
          </a:p>
          <a:p/>
          <a:p>
            <a:r>
              <a:t>3. 结论</a:t>
            </a:r>
          </a:p>
          <a:p>
            <a:r>
              <a:t>   - 平摊代价 = 2n/n = 2 = O(1)</a:t>
            </a:r>
          </a:p>
          <a:p/>
          <a:p>
            <a:r>
              <a:t>关键洞察：</a:t>
            </a:r>
          </a:p>
          <a:p>
            <a:r>
              <a:t>虽然高位翻转代价高，但翻转频率低</a:t>
            </a:r>
          </a:p>
          <a:p>
            <a:r>
              <a:t>低位翻转频繁，但代价低</a:t>
            </a:r>
          </a:p>
          <a:p>
            <a:r>
              <a:t>平均下来是常数级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40 秒用势能法分析，展示势函数设计技巧。</a:t>
            </a:r>
          </a:p>
          <a:p/>
          <a:p>
            <a:r>
              <a:t>势函数设计思路：</a:t>
            </a:r>
          </a:p>
          <a:p>
            <a:r>
              <a:t>为什么选择 Φ = 1 的个数？</a:t>
            </a:r>
          </a:p>
          <a:p/>
          <a:p>
            <a:r>
              <a:t>直觉：</a:t>
            </a:r>
          </a:p>
          <a:p>
            <a:r>
              <a:t>- 1 越多，下次 INCREMENT 可能越贵（连续末尾 1 需要进位）</a:t>
            </a:r>
          </a:p>
          <a:p>
            <a:r>
              <a:t>- 1 就是势能，代表潜在的翻转代价</a:t>
            </a:r>
          </a:p>
          <a:p>
            <a:r>
              <a:t>- 当贵操作发生时（大量 1→0），势能下降来支付</a:t>
            </a:r>
          </a:p>
          <a:p/>
          <a:p>
            <a:r>
              <a:t>具体分析：</a:t>
            </a:r>
          </a:p>
          <a:p>
            <a:r>
              <a:t>例如从 00111 变成 01000：</a:t>
            </a:r>
          </a:p>
          <a:p>
            <a:r>
              <a:t>- 实际代价 = 4（翻转 3 个 1→0，1 个 0→1）</a:t>
            </a:r>
          </a:p>
          <a:p>
            <a:r>
              <a:t>- 势能变化 = 1 - 3 = -2（从 3 个 1 变成 1 个 1）</a:t>
            </a:r>
          </a:p>
          <a:p>
            <a:r>
              <a:t>- 平摊代价 = 4 + (-2) = 2</a:t>
            </a:r>
          </a:p>
          <a:p/>
          <a:p>
            <a:r>
              <a:t>无论 t 是多少，平摊代价恒为 2！</a:t>
            </a:r>
          </a:p>
          <a:p/>
          <a:p>
            <a:r>
              <a:t>这就是势能法的魔力：</a:t>
            </a:r>
          </a:p>
          <a:p>
            <a:r>
              <a:t>通过精心设计的势函数，把变化的实际代价变成恒定的平摊代价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30 秒总结三种方法的适用场景。</a:t>
            </a:r>
          </a:p>
          <a:p/>
          <a:p>
            <a:r>
              <a:t>方法选择详解：</a:t>
            </a:r>
          </a:p>
          <a:p/>
          <a:p>
            <a:r>
              <a:t>1. 聚集分析</a:t>
            </a:r>
          </a:p>
          <a:p>
            <a:r>
              <a:t>   - 优点：最直观，数学推导清晰</a:t>
            </a:r>
          </a:p>
          <a:p>
            <a:r>
              <a:t>   - 缺点：需要能精确求和，不是所有问题都适用</a:t>
            </a:r>
          </a:p>
          <a:p>
            <a:r>
              <a:t>   - 适用：操作模式规律，代价公式可求和</a:t>
            </a:r>
          </a:p>
          <a:p/>
          <a:p>
            <a:r>
              <a:t>2. 记账法</a:t>
            </a:r>
          </a:p>
          <a:p>
            <a:r>
              <a:t>   - 优点：直观的预付款概念，易于理解</a:t>
            </a:r>
          </a:p>
          <a:p>
            <a:r>
              <a:t>   - 缺点：需要巧妙设计每种操作的平摊价</a:t>
            </a:r>
          </a:p>
          <a:p>
            <a:r>
              <a:t>   - 适用：不同操作有不同代价，但能设计统一收费</a:t>
            </a:r>
          </a:p>
          <a:p/>
          <a:p>
            <a:r>
              <a:t>3. 势能法</a:t>
            </a:r>
          </a:p>
          <a:p>
            <a:r>
              <a:t>   - 优点：最通用，可以分析复杂的状态转移</a:t>
            </a:r>
          </a:p>
          <a:p>
            <a:r>
              <a:t>   - 缺点：势函数设计需要技巧和经验</a:t>
            </a:r>
          </a:p>
          <a:p>
            <a:r>
              <a:t>   - 适用：代价依赖数据结构状态，有复杂的状态转移</a:t>
            </a:r>
          </a:p>
          <a:p/>
          <a:p>
            <a:r>
              <a:t>实践建议：</a:t>
            </a:r>
          </a:p>
          <a:p>
            <a:r>
              <a:t>- 先尝试聚集分析（最简单）</a:t>
            </a:r>
          </a:p>
          <a:p>
            <a:r>
              <a:t>- 如果不行，考虑记账法（较直观）</a:t>
            </a:r>
          </a:p>
          <a:p>
            <a:r>
              <a:t>- 复杂问题用势能法（最强大）</a:t>
            </a:r>
          </a:p>
          <a:p/>
          <a:p>
            <a:r>
              <a:t>三种方法都能得到相同的平摊上界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40 秒总结并激发进一步学习兴趣。</a:t>
            </a:r>
          </a:p>
          <a:p/>
          <a:p>
            <a:r>
              <a:t>8 分钟学习回顾：</a:t>
            </a:r>
          </a:p>
          <a:p>
            <a:r>
              <a:t>1. 我们理解了平摊分析的本质：分析操作序列的平均代价</a:t>
            </a:r>
          </a:p>
          <a:p>
            <a:r>
              <a:t>2. 掌握了三种方法，知道它们只是存款归属的不同</a:t>
            </a:r>
          </a:p>
          <a:p>
            <a:r>
              <a:t>3. 完成了两个经典案例：动态数组和二进制计数器</a:t>
            </a:r>
          </a:p>
          <a:p>
            <a:r>
              <a:t>4. 建立了势函数设计的初步直觉</a:t>
            </a:r>
          </a:p>
          <a:p/>
          <a:p>
            <a:r>
              <a:t>延伸应用介绍：</a:t>
            </a:r>
          </a:p>
          <a:p>
            <a:r>
              <a:t>1. 并查集（Union-Find）</a:t>
            </a:r>
          </a:p>
          <a:p>
            <a:r>
              <a:t>   - 带路径压缩和按秩合并</a:t>
            </a:r>
          </a:p>
          <a:p>
            <a:r>
              <a:t>   - 平摊复杂度是阿克曼函数的反函数 α(n)</a:t>
            </a:r>
          </a:p>
          <a:p>
            <a:r>
              <a:t>   - 对于所有实际 n，α(n) ≤ 5，近似常数</a:t>
            </a:r>
          </a:p>
          <a:p/>
          <a:p>
            <a:r>
              <a:t>2. Splay 树</a:t>
            </a:r>
          </a:p>
          <a:p>
            <a:r>
              <a:t>   - 自调整二叉搜索树</a:t>
            </a:r>
          </a:p>
          <a:p>
            <a:r>
              <a:t>   - 用势能法证明每次操作平摊 O(log n)</a:t>
            </a:r>
          </a:p>
          <a:p>
            <a:r>
              <a:t>   - 势函数设计非常精巧</a:t>
            </a:r>
          </a:p>
          <a:p/>
          <a:p>
            <a:r>
              <a:t>3. 斐波那契堆</a:t>
            </a:r>
          </a:p>
          <a:p>
            <a:r>
              <a:t>   - decrease-key 操作平摊 O(1)</a:t>
            </a:r>
          </a:p>
          <a:p>
            <a:r>
              <a:t>   - 用于优化 Dijkstra 和 Prim 算法</a:t>
            </a:r>
          </a:p>
          <a:p>
            <a:r>
              <a:t>   - 势函数基于树的个数和被标记节点数</a:t>
            </a:r>
          </a:p>
          <a:p/>
          <a:p>
            <a:r>
              <a:t>推荐阅读：</a:t>
            </a:r>
          </a:p>
          <a:p>
            <a:r>
              <a:t>《算法导论》（CLRS）第 17 章有详细的平摊分析讲解</a:t>
            </a:r>
          </a:p>
          <a:p>
            <a:r>
              <a:t>特别推荐阅读势能法部分，有多个精彩案例</a:t>
            </a:r>
          </a:p>
          <a:p/>
          <a:p>
            <a:r>
              <a:t>感谢大家的 8 分钟！如有问题欢迎讨论。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Amortized Analysis 平摊分析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8 分钟速懂 · 偶尔很贵，但长期不贵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05050"/>
                </a:solidFill>
              </a:defRPr>
            </a:pPr>
            <a:r>
              <a:t>讲师：王一鸣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为什么这 8 分钟值得（课程产出）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区分概率分析与平摊分析的本质差异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掌握三种经典方法：聚集分析、记账法、势能法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会做动态数组与二进制计数器的平摊分析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能落地代价模型与势函数设计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概率分析 vs 平摊分析</a:t>
            </a:r>
          </a:p>
        </p:txBody>
      </p:sp>
      <p:pic>
        <p:nvPicPr>
          <p:cNvPr id="3" name="Picture 2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352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概率分析：对所有可能输入的期望运行时间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平摊分析：针对某数据结构的操作序列的平均代价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平摊分析不需要概率假设，结果是确定性的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平摊分析关注最坏情况序列，而非平均情况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为什么需要平摊分析</a:t>
            </a:r>
          </a:p>
        </p:txBody>
      </p:sp>
      <p:pic>
        <p:nvPicPr>
          <p:cNvPr id="3" name="Picture 2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多数操作便宜（O(1)），偶尔很贵（O(n)）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单纯最坏情况分析会高估真实代价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目标：证明长序列的均摊代价是常数级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典型应用：动态数组、哈希表、并查集、Splay树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三种策略总览</a:t>
            </a:r>
          </a:p>
        </p:txBody>
      </p:sp>
      <p:pic>
        <p:nvPicPr>
          <p:cNvPr id="3" name="Picture 2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聚集分析（Aggregate）：直接计算 T(n)/n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记账法（Accounting）：平摊价 &gt; 实际价 → 存入 credit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势能法（Potential）：存款归属于数据结构的势 Φ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三者目标一致，差异在于存款如何记录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动态数组扩容：问题设定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【模型定义】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• 普通插入代价 = 1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• 扩容时代价 = 1 + k（搬移 k 个元素）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• 容量策略：满则翻倍 → 1, 2, 4, 8, 16, ...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【核心问题】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n 次 push 操作的平均代价是多少？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【计价口径】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搬移一个元素 = 1 单位代价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动态数组：聚集分析推导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【搬移代价求和】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扩容发生在 i = 1, 2, 4, 8, 16, ... 时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搬移总代价 = 1 + 2 + 4 + 8 + ... + 2^⌊log₂n⌋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【等比级数求和】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= 2^(⌊log₂n⌋+1) - 1 &lt; 2n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【总代价】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T(n) = n（插入代价）+ &lt; 2n（搬移代价）&lt; 3n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【平摊代价】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T(n)/n &lt; 3 = O(1)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动态数组：记账法分析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【平摊价设定】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每次 push 预收 3 元（实际代价 1 元）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多收的 2 元存入 credit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【扩容时支付】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需要搬移 k 个元素，从 credit 中取出 k 元支付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【关键观察】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每个元素在被搬移前，至少存入了 2 元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第一次存款 → 第一次搬移；第二次存款 → 第二次搬移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【结论】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credit 永不为负 → 平摊代价 = 3 = O(1)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动态数组：势能法分析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【势函数定义】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Φ(D) = 2·size - capacity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其中 size = 当前元素数，capacity = 当前容量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【平摊代价公式】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ĉᵢ = cᵢ + Φ(Dᵢ) - Φ(Dᵢ₋₁)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【普通插入】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ĉ = 1 + (2(s+1) - cap) - (2s - cap) = 1 + 2 = 3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【扩容插入】（k 元素搬移，容量翻倍）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ĉ = (1+k) + (2(k+1) - 2k) - (2k - k) = 1+k + 2 - k =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势能法：通用框架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【势函数要求】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Φ(D₀) = 0（初始势能为零）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Φ(Dᵢ) ≥ 0（势能永不为负）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【平摊代价定义】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ĉᵢ = cᵢ + Φ(Dᵢ) - Φ(Dᵢ₋₁)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【总代价上界】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Σcᵢ = Σĉᵢ - Φ(Dₙ) + Φ(D₀) ≤ Σĉᵢ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【核心技巧】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设计 Φ 使得：贵操作时 ΔΦ &lt; 0，便宜操作时 ΔΦ &gt;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二进制计数器：问题设定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【计数器模型】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k 位二进制计数器，初始为 0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每次 INCREMENT 操作：计数器加 1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【代价定义】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翻转一个比特位 = 1 单位代价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【示例】（4 位计数器）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0000 → 0001（翻转 1 位）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0001 → 0010（翻转 2 位）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0010 → 0011（翻转 1 位）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0011 → 0100（翻转 3 位）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【问题】n 次 INCREMENT 的平摊代价？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二进制计数器：聚集分析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【翻转次数统计】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第 0 位（最低位）：每次都翻转 → n 次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第 1 位：每 2 次翻转一次 → ⌊n/2⌋ 次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第 2 位：每 4 次翻转一次 → ⌊n/4⌋ 次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...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第 i 位：⌊n/2ⁱ⌋ 次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【总翻转次数】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T(n) = Σ⌊n/2ⁱ⌋ &lt; n·Σ(1/2ⁱ) = n·2 = 2n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【平摊代价】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T(n)/n &lt; 2 = O(1)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二进制计数器：势能法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【势函数定义】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Φ(D) = 计数器中 1 的个数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【INCREMENT 操作分析】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设操作前有 t 个连续的末尾 1（如 ...011 中 t=2）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实际代价 cᵢ = t + 1（翻转 t 个 1→0，1 个 0→1）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势能变化 ΔΦ = 1 - t（减少 t 个 1，增加 1 个 1）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【平摊代价】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ĉᵢ = cᵢ + ΔΦ = (t+1) + (1-t) = 2 = O(1) ✓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【验证势函数】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Φ(D₀) = 0 ✓（初始全零）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Φ(Dᵢ) ≥ 0 ✓（1 的个数非负）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方法对比与选择指南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聚集分析：适合能直接求和的简单场景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记账法：适合代价能直观分配到操作的场景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势能法：最通用，适合复杂数据结构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选择建议：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  · 能求和 → 聚集分析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  · 能设计合理收费 → 记账法</a:t>
            </a:r>
          </a:p>
          <a:p>
            <a:pPr>
              <a:spcBef>
                <a:spcPts val="1200"/>
              </a:spcBef>
              <a:defRPr sz="2200">
                <a:solidFill>
                  <a:srgbClr val="323232"/>
                </a:solidFill>
              </a:defRPr>
            </a:pPr>
            <a:r>
              <a:t>•   · 状态驱动代价 → 势能法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8 分钟回顾与延伸阅读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【核心要点】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✓ 平摊分析 ≠ 概率分析：无需概率假设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✓ 三种方法本质相同：聚集/记账/势能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✓ 动态数组：push 平摊 O(1)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✓ 二进制计数器：INCREMENT 平摊 O(1)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【延伸应用】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• 并查集 (Union-Find)：平摊 O(α(n)) ≈ O(1)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• Splay 树：平摊 O(log n)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• 斐波那契堆：部分操作平摊 O(1)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【推荐阅读】</a:t>
            </a:r>
          </a:p>
          <a:p>
            <a:pPr>
              <a:spcBef>
                <a:spcPts val="1000"/>
              </a:spcBef>
              <a:defRPr sz="2000">
                <a:solidFill>
                  <a:srgbClr val="323232"/>
                </a:solidFill>
              </a:defRPr>
            </a:pPr>
            <a:r>
              <a:t>  《算法导论》第 17 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